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value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A9-441A-8632-D0ECFED1F366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A9-441A-8632-D0ECFED1F366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A9-441A-8632-D0ECFED1F366}"/>
              </c:ext>
            </c:extLst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A9-441A-8632-D0ECFED1F3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Price vs Old_price</c:v>
                </c:pt>
                <c:pt idx="1">
                  <c:v>Discount vs Savings</c:v>
                </c:pt>
                <c:pt idx="2">
                  <c:v>Premium Brand vs Price</c:v>
                </c:pt>
                <c:pt idx="3">
                  <c:v>Price vs Discount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</c:v>
                </c:pt>
                <c:pt idx="1">
                  <c:v>0.72</c:v>
                </c:pt>
                <c:pt idx="2">
                  <c:v>0.53</c:v>
                </c:pt>
                <c:pt idx="3">
                  <c:v>-0.26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A9-441A-8632-D0ECFED1F3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ru-K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5"/>
        </c:scaling>
        <c:delete val="0"/>
        <c:axPos val="b"/>
        <c:majorGridlines>
          <c:spPr>
            <a:ln w="6350" cap="flat">
              <a:solidFill>
                <a:srgbClr val="F3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ru-K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49-4AFA-A2A7-B9F120146AA6}"/>
              </c:ext>
            </c:extLst>
          </c:dPt>
          <c:dPt>
            <c:idx val="1"/>
            <c:invertIfNegative val="0"/>
            <c:bubble3D val="0"/>
            <c:spPr>
              <a:solidFill>
                <a:srgbClr val="F19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49-4AFA-A2A7-B9F120146AA6}"/>
              </c:ext>
            </c:extLst>
          </c:dPt>
          <c:dPt>
            <c:idx val="2"/>
            <c:invertIfNegative val="0"/>
            <c:bubble3D val="0"/>
            <c:spPr>
              <a:solidFill>
                <a:srgbClr val="922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49-4AFA-A2A7-B9F120146AA6}"/>
              </c:ext>
            </c:extLst>
          </c:dPt>
          <c:dPt>
            <c:idx val="3"/>
            <c:invertIfNegative val="0"/>
            <c:bubble3D val="0"/>
            <c:spPr>
              <a:solidFill>
                <a:srgbClr val="F19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49-4AFA-A2A7-B9F120146A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Men</c:v>
                </c:pt>
                <c:pt idx="1">
                  <c:v>Women</c:v>
                </c:pt>
                <c:pt idx="2">
                  <c:v>Unisex</c:v>
                </c:pt>
                <c:pt idx="3">
                  <c:v>Kids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19911</c:v>
                </c:pt>
                <c:pt idx="1">
                  <c:v>16446</c:v>
                </c:pt>
                <c:pt idx="2">
                  <c:v>21000</c:v>
                </c:pt>
                <c:pt idx="3">
                  <c:v>22000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49-4AFA-A2A7-B9F120146A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ru-K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3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ru-K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EA-4A0B-8E6A-76314D385C15}"/>
              </c:ext>
            </c:extLst>
          </c:dPt>
          <c:dPt>
            <c:idx val="1"/>
            <c:invertIfNegative val="0"/>
            <c:bubble3D val="0"/>
            <c:spPr>
              <a:solidFill>
                <a:srgbClr val="F19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EA-4A0B-8E6A-76314D385C15}"/>
              </c:ext>
            </c:extLst>
          </c:dPt>
          <c:dPt>
            <c:idx val="2"/>
            <c:invertIfNegative val="0"/>
            <c:bubble3D val="0"/>
            <c:spPr>
              <a:solidFill>
                <a:srgbClr val="922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EA-4A0B-8E6A-76314D385C15}"/>
              </c:ext>
            </c:extLst>
          </c:dPt>
          <c:dPt>
            <c:idx val="3"/>
            <c:invertIfNegative val="0"/>
            <c:bubble3D val="0"/>
            <c:spPr>
              <a:solidFill>
                <a:srgbClr val="F19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EA-4A0B-8E6A-76314D385C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Mid-range</c:v>
                </c:pt>
                <c:pt idx="2">
                  <c:v>Premium</c:v>
                </c:pt>
                <c:pt idx="3">
                  <c:v>Luxury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24.9</c:v>
                </c:pt>
                <c:pt idx="1">
                  <c:v>16.5</c:v>
                </c:pt>
                <c:pt idx="2">
                  <c:v>11.8</c:v>
                </c:pt>
                <c:pt idx="3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EA-4A0B-8E6A-76314D385C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ru-K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3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ru-K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BC-4588-9334-E04ECFA23DB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8BC-4588-9334-E04ECFA23DB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8BC-4588-9334-E04ECFA23DB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8BC-4588-9334-E04ECFA23DBE}"/>
              </c:ext>
            </c:extLst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BC-4588-9334-E04ECFA23D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Nike</c:v>
                </c:pt>
                <c:pt idx="1">
                  <c:v>Adidas</c:v>
                </c:pt>
                <c:pt idx="2">
                  <c:v>Puma</c:v>
                </c:pt>
                <c:pt idx="3">
                  <c:v>Reebok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37250</c:v>
                </c:pt>
                <c:pt idx="1">
                  <c:v>33413</c:v>
                </c:pt>
                <c:pt idx="2">
                  <c:v>32205</c:v>
                </c:pt>
                <c:pt idx="3">
                  <c:v>28000</c:v>
                </c:pt>
                <c:pt idx="4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8BC-4588-9334-E04ECFA23D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ru-K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3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ru-K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4C-4562-9F74-B6D6F28AB93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E4C-4562-9F74-B6D6F28AB9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E4C-4562-9F74-B6D6F28AB937}"/>
              </c:ext>
            </c:extLst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4C-4562-9F74-B6D6F28AB9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Brand_Price_Diff</c:v>
                </c:pt>
                <c:pt idx="1">
                  <c:v>Price</c:v>
                </c:pt>
                <c:pt idx="2">
                  <c:v>Color_encoded</c:v>
                </c:pt>
                <c:pt idx="3">
                  <c:v>Is_Premium_Brand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0.42299999999999999</c:v>
                </c:pt>
                <c:pt idx="1">
                  <c:v>0.32700000000000001</c:v>
                </c:pt>
                <c:pt idx="2">
                  <c:v>0.23300000000000001</c:v>
                </c:pt>
                <c:pt idx="3">
                  <c:v>1.7000000000000001E-2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4C-4562-9F74-B6D6F28AB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ru-K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3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ru-K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81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2651760" cy="27432"/>
          </a:xfrm>
          <a:prstGeom prst="rect">
            <a:avLst/>
          </a:prstGeom>
          <a:solidFill>
            <a:srgbClr val="F194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flo.com.kz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5486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2423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 ·  Data Cleaning  ·  EDA  ·  Machine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926080"/>
            <a:ext cx="5303520" cy="27432"/>
          </a:xfrm>
          <a:prstGeom prst="rect">
            <a:avLst/>
          </a:prstGeom>
          <a:solidFill>
            <a:srgbClr val="F1948A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108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Yernar Tashkenbay   ·   Zhayik Musakhan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Yerkebulan Bekbatyr   ·   Dinmukhambet Akhmet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Introduction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FLO Kazakhstan?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834640" cy="2560320"/>
          </a:xfrm>
          <a:prstGeom prst="rect">
            <a:avLst/>
          </a:prstGeom>
          <a:solidFill>
            <a:srgbClr val="FDEDE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8346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established retailers categorize products &amp; manage large-scale inventories at scale.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834640" cy="2560320"/>
          </a:xfrm>
          <a:prstGeom prst="rect">
            <a:avLst/>
          </a:prstGeom>
          <a:solidFill>
            <a:srgbClr val="FDEDE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8346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essential features — pricing structures, brand hierarchies — to build a competitive platform.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834640" cy="2560320"/>
          </a:xfrm>
          <a:prstGeom prst="rect">
            <a:avLst/>
          </a:prstGeom>
          <a:solidFill>
            <a:srgbClr val="FDEDE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463040"/>
            <a:ext cx="28346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Entrepreneurial Insight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foundation for launching an independent online shop, using data to inform product &amp; pricing decisions.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Extract actionable business intelligence from FLO's catalog to understand market structure &amp; inform future e-commerce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Data Source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flo.com.kz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 is a leading footwear &amp; sportswear retailer across Kazakhstan and Central Asia, listing thousands of products from international and local brands.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393192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2374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2 – 2,000 scraped across all categories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Scraped Attributes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297680" cy="356615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title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Brand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Manufacturer label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Current sale price (KZT)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Old_price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Original price (KZT)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Discount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% discount applied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Model identifier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Gender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Men / Women / Unisex / Kids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Color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color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external material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Scraping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265176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Listing Pages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Iterated pages 2–2000 using:
</a:t>
            </a: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flo.com.kz/ru/all-categories?page={n}
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per product card:
Name  ·  Brand  ·  Price  ·  Old Price  ·  Discount  ·  Product URL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4572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315968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937760" y="960120"/>
            <a:ext cx="3931920" cy="265176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960120"/>
            <a:ext cx="393192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Detail Pages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Visited each product URL to extract:
</a:t>
            </a: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 ·  Color  ·  Material  ·  Model  ·  Category
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</a:t>
            </a: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requests.Session()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connection reuse.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records exported to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flo_products.csv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(UTF-8-sig)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58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ThreadPoolExecutor (max_workers=10)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Parallelized detail page requests — 10 pages fetched simultaneously per batch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49902" y="3794760"/>
            <a:ext cx="230537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D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7–8×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7863840" y="3930102"/>
            <a:ext cx="914400" cy="733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Data Cleaning &amp; Transformation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Removal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first occurrence of repeated product records from paginated listings.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50292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601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Normalization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Stripped special chars from Name; removed 'Комп.' abbreviation from Material.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50292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860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Conversion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Old_price &amp; Discount converted from raw strings to numeric (removed KZT, %, spaces).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50292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2860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Column-specific strategies: Mode, bfill, ffill, 'Unisex', 'Unknown', 0 fill.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50292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61188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Handling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 detection → Winsorization (retained valid extremes: 490 KZT accessories to 99,990 KZT sneakers).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50292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1188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023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Added: Savings, Brand_Price_Diff, Price_bucket (4 tiers), Is_Premium_Brand flag.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Analysis — Statistics &amp; Correlation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828800"/>
          </a:xfrm>
          <a:prstGeom prst="rect">
            <a:avLst/>
          </a:prstGeom>
          <a:solidFill>
            <a:srgbClr val="C0392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Skewness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 — most products are budget/mid-range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960120"/>
            <a:ext cx="1965960" cy="182880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50592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↔ Old Price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50592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positive correlation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182880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26864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↔ Discount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items get bigger discounts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960120"/>
            <a:ext cx="1965960" cy="182880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03136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Brand ↔ Price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status drives price significantly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Highlights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3246120"/>
          <a:ext cx="85953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Segment-Level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Price by Gender (KZT)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3931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Discount % by Price Tier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937760" y="1234440"/>
          <a:ext cx="3931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Brands by Avg Price (KZT)</a:t>
            </a:r>
            <a:endParaRPr lang="en-US" sz="12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274320" y="3520440"/>
          <a:ext cx="859536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Statistical Hypothesis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Independent two-sample Welch's T-test (unequal variances) · Significance threshold: p &lt; 0.05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105156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990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Premium brands are significantly more expensive than non-premium brands.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avg: ~30,600 KZT  |  Regular avg: ~14,133 KZT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a premium brand guarantees a 2× price premium.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37960" y="1463040"/>
            <a:ext cx="21031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ACCEPTED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984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 ≈ 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8595360" cy="105156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877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Budget products receive higher percentage discounts than Premium products.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9864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avg discount: ~24.9%  |  Premium avg discount: ~11.8%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729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 uses discounts to drive mass-market volume, not premium sales.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2651760"/>
            <a:ext cx="21031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ACCEPTED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172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 &lt; 0.05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03320"/>
            <a:ext cx="8595360" cy="105156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7764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Men's products are priced higher than Women's products.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8736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avg: ~19,911 KZT  |  Women avg: ~16,446 KZT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616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pricing gap (~3,465 KZT) is statistically robust.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3840480"/>
            <a:ext cx="21031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840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ACCEPTED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4361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1.61 × 10⁻²⁷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Key Findings &amp;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5720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Mass-market discount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discounts on Budget products; minimal discounts protect premium brand equity &amp; margin.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5720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601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is the #1 price driver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Nike, Adidas &amp; Puma average 2× higher prices than non-premium brands (confirmed by T-test).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45720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8600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skewed toward accessible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697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of products fall in Budget &amp; Mid-range tiers despite presence of luxury items.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45720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28600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Men's products priced higher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697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~3,465 KZT gender price gap — statistically significant (p = 1.61×10⁻²⁷).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45720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61188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promotional tiers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peaks at 0%, 20%, 40%, 50% — applied in predefined tiers, not product-by-product.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206240" cy="114300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45720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1188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gaps = opportunity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4023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color &amp; material data in FLO — richer product metadata is a competitive differentiator.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Challenges Faced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41732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1: Nested Page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Solution: ThreadPoolExecutor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attributes (Gender, Color, Material) required visiting each product's detail page → second for loop → extremely slow scraping.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using concurrent.futures.ThreadPoolExecutor (10 workers) → 7–8× speed improvement.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8595360" cy="118872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51460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2: Inconsistent &amp; Missing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fields had non-breaking spaces, mixed decimal separators, and appended currency labels. Several product pages had absent attributes. Required field-specific cleaning logic — not a one-size-fits-all approach.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8595360" cy="105156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840480"/>
            <a:ext cx="73152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04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3: Outlier Interpretation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 flagged extremes — but these were real products (490 KZT accessories to 99,990 KZT sneakers, 88% discounts). Decision: retain + apply Winsorization (capping) rather than removal.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 Bonus 1: Discount Classification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286000" cy="3931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70.7%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920240" cy="27432"/>
          </a:xfrm>
          <a:prstGeom prst="rect">
            <a:avLst/>
          </a:prstGeom>
          <a:solidFill>
            <a:srgbClr val="F1948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Trees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Split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Is_Discounted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(binary)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9601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834640" y="1280160"/>
          <a:ext cx="60350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2834640" y="33832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Results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834640" y="3749040"/>
            <a:ext cx="603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92608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Discounted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0.63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0.65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8952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0.61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34640" y="4343400"/>
            <a:ext cx="6035040" cy="502920"/>
          </a:xfrm>
          <a:prstGeom prst="rect">
            <a:avLst/>
          </a:prstGeom>
          <a:solidFill>
            <a:srgbClr val="FDEDEC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92608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4434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0.76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0.74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4434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0.77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834640" y="47731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Is_Premium_Brand scored lowest (0.017) — premium status alone does not predict discounting.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 Bonus 2: Word Cloud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Cloud of Product Names — 500 most frequent terms, viridis colormap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3035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[Word Cloud Image]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from notebook output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234440"/>
            <a:ext cx="3108960" cy="132588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0" y="1234440"/>
            <a:ext cx="457200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23444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Dominance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Kinetix, Polaris &amp; Lumberjack dominate by volume. Nike, Adidas, Reebok &amp; Puma are present but smaller.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2743200"/>
            <a:ext cx="3108960" cy="1325880"/>
          </a:xfrm>
          <a:prstGeom prst="rect">
            <a:avLst/>
          </a:prstGeom>
          <a:solidFill>
            <a:srgbClr val="FDEDEC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743200"/>
            <a:ext cx="457200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74320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Product 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5Fx, 4Fx, 3Pr, 2Pr patterns reveal iterative naming — catalog growth without full redesigns.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Value: Brand_Price_Diff — the #1 feature in our Random Forest model (importance: 0.423)</a:t>
            </a:r>
            <a:endParaRPr lang="en-US" sz="11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8B21AB4-995A-7365-0CA7-1C9B1EC44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42" y="1257300"/>
            <a:ext cx="529351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 Individual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69164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14300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Yerkebulan Bekbatyr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&amp; Data Cleaning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the web scraping infrastructure and implemented data cleaning protocols to ensure dataset integrity.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69164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2062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19472" y="114300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Zhayik Musakhan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9472" y="18745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Conducted EDA to identify statistical trends, distributions, and pricing correlations across the dataset.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206240" cy="169164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42062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Dinmukhambet Akhmet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37947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produced high-fidelity data visualizations to represent market findings and category comparisons.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4206240" cy="169164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880360"/>
            <a:ext cx="42062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2356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Yernar Tashkenbay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 &amp; Reporting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37947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Acted as project lead, responsible for technical reporting, final presentation structure, and synthesizing insights.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10972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74720" y="2194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0" y="2788920"/>
            <a:ext cx="5303520" cy="27432"/>
          </a:xfrm>
          <a:prstGeom prst="rect">
            <a:avLst/>
          </a:prstGeom>
          <a:solidFill>
            <a:srgbClr val="F1948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9718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Web Scraping (2,000 pages + ThreadPoolExecutor)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Data Cleaning &amp; Feature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373989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EDA, Correlation &amp; Hypothesis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41239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Bonus: ML Model (70.7%) + Word Cloud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1256</Words>
  <Application>Microsoft Office PowerPoint</Application>
  <PresentationFormat>Экран (16:9)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 E-Commerce Data Analysis</dc:title>
  <dc:subject>PptxGenJS Presentation</dc:subject>
  <dc:creator>PptxGenJS</dc:creator>
  <cp:lastModifiedBy>Yernar</cp:lastModifiedBy>
  <cp:revision>3</cp:revision>
  <dcterms:created xsi:type="dcterms:W3CDTF">2026-04-26T15:28:59Z</dcterms:created>
  <dcterms:modified xsi:type="dcterms:W3CDTF">2026-04-26T15:40:42Z</dcterms:modified>
</cp:coreProperties>
</file>